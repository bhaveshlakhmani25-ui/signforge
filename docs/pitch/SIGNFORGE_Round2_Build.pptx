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pectral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7vsQim4u0tfBkudEy+BCuVBEA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2F2B6E"/>
                </a:solidFill>
              </a:rPr>
              <a:t>Measured on the same frozen test clips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7F79B6"/>
            </a:solidFill>
          </c:spPr>
          <c:cat>
            <c:strRef>
              <c:f>Sheet1!$A$2:$A$4</c:f>
              <c:strCache>
                <c:ptCount val="3"/>
                <c:pt idx="0">
                  <c:v>ISL accuracy</c:v>
                </c:pt>
                <c:pt idx="1">
                  <c:v>ISL macro-F1</c:v>
                </c:pt>
                <c:pt idx="2">
                  <c:v>ASL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0.559</c:v>
                </c:pt>
                <c:pt idx="1">
                  <c:v>0.534</c:v>
                </c:pt>
                <c:pt idx="2">
                  <c:v>0.182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the new training recipe</c:v>
                </c:pt>
              </c:strCache>
            </c:strRef>
          </c:tx>
          <c:spPr>
            <a:solidFill>
              <a:srgbClr val="2F2B6E"/>
            </a:solidFill>
          </c:spPr>
          <c:cat>
            <c:strRef>
              <c:f>Sheet1!$A$2:$A$4</c:f>
              <c:strCache>
                <c:ptCount val="3"/>
                <c:pt idx="0">
                  <c:v>ISL accuracy</c:v>
                </c:pt>
                <c:pt idx="1">
                  <c:v>ISL macro-F1</c:v>
                </c:pt>
                <c:pt idx="2">
                  <c:v>ASL accuracy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</c:v>
                </c:pt>
                <c:pt idx="1">
                  <c:v>0.768</c:v>
                </c:pt>
                <c:pt idx="2">
                  <c:v>0.273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2E0F0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>
          <a:solidFill>
            <a:srgbClr val="555275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SIGNFORGE is a data-generation workbench for under-resourced sign languages, not a translator. Everything in this deck is built and running; the live demo opens on any laptop.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Our brief: build a corpus builder for low-resource sign languages. The bottleneck is usable, consented, well-covered data, not the absence of any data. Collecting blindly wastes signers' time.</a:t>
            </a:r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Read the wheel clockwise from the top. Steps 1-3 run in the browser; the hub is the idea: model uncertainty and corpus gaps choose the next sample. The right side is what a team walks away with.</a:t>
            </a: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No hardware: a laptop webcam is enough. Teal arrow = the privacy boundary. 83 pytest tests plus browser-vs-backend parity checks (16/16 readings, 33/33 QC results) keep both paths identical.</a:t>
            </a:r>
          </a:p>
        </p:txBody>
      </p:sp>
      <p:sp>
        <p:nvSpPr>
          <p:cNvPr id="45" name="Google Shape;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Weights are the shipped ranker defaults (0.35 / 0.25 / 0.40), configurable, and each component is shown in the app. Annotation tools record what you have; collection apps gather more; our emphasis is deciding what to collect next.</a:t>
            </a:r>
          </a:p>
        </p:txBody>
      </p:sp>
      <p:sp>
        <p:nvSpPr>
          <p:cNvPr id="55" name="Google Shape;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Same data, better training: ISL rose from 56% to 78%; THANK-YOU and THEY went from never recognised to 75-100%. Limits: INCLUDE has no signer IDs, so this is not signer-independent; ALRIGHT is still 0 of 4.</a:t>
            </a:r>
          </a:p>
        </p:txBody>
      </p:sp>
      <p:sp>
        <p:nvSpPr>
          <p:cNvPr id="65" name="Google Shape;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Our users are dataset creators and reviewers, not end-user translation customers. Deaf organisations are highlighted because community control over data is the reason the consent features exist.</a:t>
            </a:r>
          </a:p>
        </p:txBody>
      </p:sp>
      <p:sp>
        <p:nvSpPr>
          <p:cNvPr id="75" name="Google Shape;7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Unchanged from Round 1 by design: the build focused on the data loop.</a:t>
            </a:r>
          </a:p>
        </p:txBody>
      </p:sp>
      <p:sp>
        <p:nvSpPr>
          <p:cNvPr id="85" name="Google Shape;8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levers for a better model: more data (People archives already inspected by Aakarshi) and better methods (a verified pretrained checkpoint). Platform work makes collection possible beyond our laptops.</a:t>
            </a:r>
          </a:p>
        </p:txBody>
      </p:sp>
      <p:sp>
        <p:nvSpPr>
          <p:cNvPr id="95" name="Google Shape;9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Close on the loop and invite judges to open the live demo on their own laptop.</a:t>
            </a:r>
          </a:p>
        </p:txBody>
      </p:sp>
      <p:sp>
        <p:nvSpPr>
          <p:cNvPr id="105" name="Google Shape;10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14.png"/><Relationship Id="rId18" Type="http://schemas.openxmlformats.org/officeDocument/2006/relationships/image" Target="../media/image35.png"/><Relationship Id="rId19" Type="http://schemas.openxmlformats.org/officeDocument/2006/relationships/image" Target="../media/image15.png"/><Relationship Id="rId20" Type="http://schemas.openxmlformats.org/officeDocument/2006/relationships/image" Target="../media/image16.png"/><Relationship Id="rId21" Type="http://schemas.openxmlformats.org/officeDocument/2006/relationships/image" Target="../media/image9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44.png"/><Relationship Id="rId9" Type="http://schemas.openxmlformats.org/officeDocument/2006/relationships/chart" Target="../charts/chart1.xml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4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09590" y="1554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4400"/>
              <a:buFont typeface="Arial"/>
              <a:buNone/>
            </a:pPr>
            <a:r>
              <a:rPr lang="en-US" sz="60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SIGNFORGE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6243F"/>
                </a:solidFill>
                <a:latin typeface="Inter"/>
                <a:ea typeface="Arial"/>
                <a:cs typeface="Arial"/>
                <a:sym typeface="Arial"/>
              </a:rPr>
              <a:t>Team Claude's Clan  —  Tashvi Adhlakha (Team Leader), Bhavesh Lakhmani, Reuben Raju, Aakarshi Dwivedi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640080" y="2468880"/>
            <a:ext cx="1090879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0" i="1">
                <a:solidFill>
                  <a:srgbClr val="7F79B6"/>
                </a:solidFill>
                <a:latin typeface="Playfair Display"/>
              </a:rPr>
              <a:t>From a few native signs to a model-ready 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71800"/>
            <a:ext cx="10908792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26243F"/>
                </a:solidFill>
                <a:latin typeface="Inter"/>
              </a:rPr>
              <a:t>Low-resource sign-language corpus builder  ·  Round 2: the working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325880" y="3904487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LuLay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942" y="4040550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84248" y="3730752"/>
            <a:ext cx="14630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F2B6E"/>
                </a:solidFill>
                <a:latin typeface="Inter"/>
              </a:rPr>
              <a:t>10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55275"/>
                </a:solidFill>
                <a:latin typeface="Inter"/>
              </a:rPr>
              <a:t>app pages,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840480" y="3904487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LuHa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6542" y="4040550"/>
            <a:ext cx="294802" cy="2948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98848" y="3730752"/>
            <a:ext cx="14630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F2B6E"/>
                </a:solidFill>
                <a:latin typeface="Inter"/>
              </a:rPr>
              <a:t>33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55275"/>
                </a:solidFill>
                <a:latin typeface="Inter"/>
              </a:rPr>
              <a:t>signs · ISL + ASL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55080" y="3904487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LuGaug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142" y="4040550"/>
            <a:ext cx="294802" cy="29480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13448" y="3730752"/>
            <a:ext cx="14630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F2B6E"/>
                </a:solidFill>
                <a:latin typeface="Inter"/>
              </a:rPr>
              <a:t>78%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55275"/>
                </a:solidFill>
                <a:latin typeface="Inter"/>
              </a:rPr>
              <a:t>ISL, held-out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869680" y="3904487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uBadge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5742" y="4040550"/>
            <a:ext cx="294802" cy="2948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28048" y="3730752"/>
            <a:ext cx="14630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2F2B6E"/>
                </a:solidFill>
                <a:latin typeface="Inter"/>
              </a:rPr>
              <a:t>83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55275"/>
                </a:solidFill>
                <a:latin typeface="Inter"/>
              </a:rPr>
              <a:t>automated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Live demo  </a:t>
            </a:r>
            <a:r>
              <a:rPr sz="1400" b="0" i="0">
                <a:solidFill>
                  <a:srgbClr val="0E7C7B"/>
                </a:solidFill>
                <a:latin typeface="Inter"/>
              </a:rPr>
              <a:t>bhaveshlakhmani25-ui.github.io/signforge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2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01  ·  THE PROBLEM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1645920"/>
            <a:ext cx="10817352" cy="1234440"/>
          </a:xfrm>
          <a:prstGeom prst="roundRect">
            <a:avLst>
              <a:gd name="adj" fmla="val 8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1627632"/>
            <a:ext cx="7315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6600" b="0" i="0">
                <a:solidFill>
                  <a:srgbClr val="7F79B6"/>
                </a:solidFill>
                <a:latin typeface="Inter"/>
              </a:rPr>
              <a:t>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1691640"/>
            <a:ext cx="950976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0" i="1">
                <a:solidFill>
                  <a:srgbClr val="FFFFFF"/>
                </a:solidFill>
                <a:latin typeface="Playfair Display"/>
              </a:rPr>
              <a:t>Low-resource sign-language corpus builder using motion-capture transfer learning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0" i="1">
                <a:solidFill>
                  <a:srgbClr val="DDDBF5"/>
                </a:solidFill>
                <a:latin typeface="Inter"/>
              </a:rPr>
              <a:t>Official problem statement  ·  Aavishkar FET Hackathon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108960"/>
            <a:ext cx="107899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WHY IT IS HARD TODAY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3520440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u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2" y="3656502"/>
            <a:ext cx="294802" cy="2948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44168" y="3502152"/>
            <a:ext cx="19659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2F2B6E"/>
                </a:solidFill>
                <a:latin typeface="Inter"/>
              </a:rPr>
              <a:t>Scarce, scattered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60520"/>
            <a:ext cx="26060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26243F"/>
                </a:solidFill>
                <a:latin typeface="Inter"/>
              </a:rPr>
              <a:t>120 datasets across 35 sign languages, in different formats and licences.</a:t>
            </a:r>
          </a:p>
        </p:txBody>
      </p:sp>
      <p:sp>
        <p:nvSpPr>
          <p:cNvPr id="41" name="Oval 40"/>
          <p:cNvSpPr/>
          <p:nvPr/>
        </p:nvSpPr>
        <p:spPr>
          <a:xfrm>
            <a:off x="3410712" y="3520440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LuTa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6774" y="3656502"/>
            <a:ext cx="294802" cy="29480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069080" y="3502152"/>
            <a:ext cx="19659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2F2B6E"/>
                </a:solidFill>
                <a:latin typeface="Inter"/>
              </a:rPr>
              <a:t>Labels don't line 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4160520"/>
            <a:ext cx="26060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26243F"/>
                </a:solidFill>
                <a:latin typeface="Inter"/>
              </a:rPr>
              <a:t>No shared standard for glosses, splits or quality, so results aren't comparable.</a:t>
            </a:r>
          </a:p>
        </p:txBody>
      </p:sp>
      <p:sp>
        <p:nvSpPr>
          <p:cNvPr id="45" name="Oval 44"/>
          <p:cNvSpPr/>
          <p:nvPr/>
        </p:nvSpPr>
        <p:spPr>
          <a:xfrm>
            <a:off x="6135624" y="3520440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Lu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686" y="3656502"/>
            <a:ext cx="294802" cy="29480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93992" y="3502152"/>
            <a:ext cx="19659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2F2B6E"/>
                </a:solidFill>
                <a:latin typeface="Inter"/>
              </a:rPr>
              <a:t>Too few signers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160520"/>
            <a:ext cx="26060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26243F"/>
                </a:solidFill>
                <a:latin typeface="Inter"/>
              </a:rPr>
              <a:t>One or two signers per sign; models break on new people and regional variants.</a:t>
            </a:r>
          </a:p>
        </p:txBody>
      </p:sp>
      <p:sp>
        <p:nvSpPr>
          <p:cNvPr id="49" name="Oval 48"/>
          <p:cNvSpPr/>
          <p:nvPr/>
        </p:nvSpPr>
        <p:spPr>
          <a:xfrm>
            <a:off x="8860536" y="3520440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LuShield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6598" y="3656502"/>
            <a:ext cx="294802" cy="29480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18904" y="3502152"/>
            <a:ext cx="19659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2F2B6E"/>
                </a:solidFill>
                <a:latin typeface="Inter"/>
              </a:rPr>
              <a:t>Consent is an afterthought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14815" y="4160520"/>
            <a:ext cx="26060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26243F"/>
                </a:solidFill>
                <a:latin typeface="Inter"/>
              </a:rPr>
              <a:t>Raw video of real people kept without clear permission or withdrawal.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2578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31520" y="5257800"/>
            <a:ext cx="1188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2F2B6E"/>
                </a:solidFill>
                <a:latin typeface="Inter"/>
              </a:rPr>
              <a:t>70M+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5257800"/>
            <a:ext cx="221284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Deaf people worldwide, using 300+ sign languages (UN / WFD)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25112" y="52578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370832" y="5257800"/>
            <a:ext cx="1188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2F2B6E"/>
                </a:solidFill>
                <a:latin typeface="Inter"/>
              </a:rPr>
              <a:t>ISL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9552" y="5257800"/>
            <a:ext cx="221284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Has datasets (INCLUDE, iSign), but they are small, uneven and hard to extend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64424" y="52578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010144" y="5257800"/>
            <a:ext cx="11887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2F2B6E"/>
                </a:solidFill>
                <a:latin typeface="Inter"/>
              </a:rPr>
              <a:t>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8864" y="5257800"/>
            <a:ext cx="221284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What data should we collect next? No tool answers this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02  ·  WHAT WE BUILT</a:t>
            </a:r>
          </a:p>
        </p:txBody>
      </p:sp>
      <p:sp>
        <p:nvSpPr>
          <p:cNvPr id="43" name="Oval 42"/>
          <p:cNvSpPr/>
          <p:nvPr/>
        </p:nvSpPr>
        <p:spPr>
          <a:xfrm>
            <a:off x="2496312" y="2432304"/>
            <a:ext cx="3145536" cy="3145536"/>
          </a:xfrm>
          <a:prstGeom prst="ellipse">
            <a:avLst/>
          </a:prstGeom>
          <a:noFill/>
          <a:ln w="28575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081528" y="3017520"/>
            <a:ext cx="1975104" cy="1975104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154680" y="3364991"/>
            <a:ext cx="182880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layfair Display"/>
              </a:rPr>
              <a:t>SIGNFORGE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DDBF5"/>
                </a:solidFill>
                <a:latin typeface="Inter"/>
              </a:rPr>
              <a:t>the model decides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DDBF5"/>
                </a:solidFill>
                <a:latin typeface="Inter"/>
              </a:rPr>
              <a:t>what to record next</a:t>
            </a:r>
          </a:p>
        </p:txBody>
      </p:sp>
      <p:sp>
        <p:nvSpPr>
          <p:cNvPr id="46" name="Oval 45"/>
          <p:cNvSpPr/>
          <p:nvPr/>
        </p:nvSpPr>
        <p:spPr>
          <a:xfrm>
            <a:off x="3785616" y="2148840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LuFile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1678" y="2284902"/>
            <a:ext cx="294802" cy="294802"/>
          </a:xfrm>
          <a:prstGeom prst="rect">
            <a:avLst/>
          </a:prstGeom>
        </p:spPr>
      </p:pic>
      <p:sp>
        <p:nvSpPr>
          <p:cNvPr id="48" name="Chevron 47"/>
          <p:cNvSpPr/>
          <p:nvPr/>
        </p:nvSpPr>
        <p:spPr>
          <a:xfrm rot="1350000">
            <a:off x="4570368" y="2451439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971800" y="1517904"/>
            <a:ext cx="21945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Consent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pseudonymous, per use</a:t>
            </a:r>
          </a:p>
        </p:txBody>
      </p:sp>
      <p:sp>
        <p:nvSpPr>
          <p:cNvPr id="50" name="Oval 49"/>
          <p:cNvSpPr/>
          <p:nvPr/>
        </p:nvSpPr>
        <p:spPr>
          <a:xfrm>
            <a:off x="4897730" y="2609493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LuCamera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793" y="2745555"/>
            <a:ext cx="294802" cy="294802"/>
          </a:xfrm>
          <a:prstGeom prst="rect">
            <a:avLst/>
          </a:prstGeom>
        </p:spPr>
      </p:pic>
      <p:sp>
        <p:nvSpPr>
          <p:cNvPr id="52" name="Chevron 51"/>
          <p:cNvSpPr/>
          <p:nvPr/>
        </p:nvSpPr>
        <p:spPr>
          <a:xfrm rot="4050000">
            <a:off x="5421544" y="3302615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565242" y="2591205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Capture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webcam or upload</a:t>
            </a:r>
          </a:p>
        </p:txBody>
      </p:sp>
      <p:sp>
        <p:nvSpPr>
          <p:cNvPr id="54" name="Oval 53"/>
          <p:cNvSpPr/>
          <p:nvPr/>
        </p:nvSpPr>
        <p:spPr>
          <a:xfrm>
            <a:off x="5358384" y="3721608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LuScan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4446" y="3857670"/>
            <a:ext cx="294802" cy="294802"/>
          </a:xfrm>
          <a:prstGeom prst="rect">
            <a:avLst/>
          </a:prstGeom>
        </p:spPr>
      </p:pic>
      <p:sp>
        <p:nvSpPr>
          <p:cNvPr id="56" name="Chevron 55"/>
          <p:cNvSpPr/>
          <p:nvPr/>
        </p:nvSpPr>
        <p:spPr>
          <a:xfrm rot="6750000">
            <a:off x="5421544" y="4506360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025896" y="3703320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Landmarks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video never uploaded</a:t>
            </a:r>
          </a:p>
        </p:txBody>
      </p:sp>
      <p:sp>
        <p:nvSpPr>
          <p:cNvPr id="58" name="Oval 57"/>
          <p:cNvSpPr/>
          <p:nvPr/>
        </p:nvSpPr>
        <p:spPr>
          <a:xfrm>
            <a:off x="4897730" y="4833722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LuCircle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3793" y="4969785"/>
            <a:ext cx="294802" cy="294802"/>
          </a:xfrm>
          <a:prstGeom prst="rect">
            <a:avLst/>
          </a:prstGeom>
        </p:spPr>
      </p:pic>
      <p:sp>
        <p:nvSpPr>
          <p:cNvPr id="60" name="Chevron 59"/>
          <p:cNvSpPr/>
          <p:nvPr/>
        </p:nvSpPr>
        <p:spPr>
          <a:xfrm rot="9450000">
            <a:off x="4570368" y="5357536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565242" y="4815434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Auto check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every flag explained</a:t>
            </a:r>
          </a:p>
        </p:txBody>
      </p:sp>
      <p:sp>
        <p:nvSpPr>
          <p:cNvPr id="62" name="Oval 61"/>
          <p:cNvSpPr/>
          <p:nvPr/>
        </p:nvSpPr>
        <p:spPr>
          <a:xfrm>
            <a:off x="3785616" y="5294376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LuBra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1678" y="5430438"/>
            <a:ext cx="294802" cy="294802"/>
          </a:xfrm>
          <a:prstGeom prst="rect">
            <a:avLst/>
          </a:prstGeom>
        </p:spPr>
      </p:pic>
      <p:sp>
        <p:nvSpPr>
          <p:cNvPr id="64" name="Chevron 63"/>
          <p:cNvSpPr/>
          <p:nvPr/>
        </p:nvSpPr>
        <p:spPr>
          <a:xfrm rot="12150000">
            <a:off x="3366623" y="5357536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971800" y="5907024"/>
            <a:ext cx="219456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Model check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calibrated score</a:t>
            </a:r>
          </a:p>
        </p:txBody>
      </p:sp>
      <p:sp>
        <p:nvSpPr>
          <p:cNvPr id="66" name="Oval 65"/>
          <p:cNvSpPr/>
          <p:nvPr/>
        </p:nvSpPr>
        <p:spPr>
          <a:xfrm>
            <a:off x="2673501" y="4833722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LuUserChe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9563" y="4969785"/>
            <a:ext cx="294802" cy="294802"/>
          </a:xfrm>
          <a:prstGeom prst="rect">
            <a:avLst/>
          </a:prstGeom>
        </p:spPr>
      </p:pic>
      <p:sp>
        <p:nvSpPr>
          <p:cNvPr id="68" name="Chevron 67"/>
          <p:cNvSpPr/>
          <p:nvPr/>
        </p:nvSpPr>
        <p:spPr>
          <a:xfrm rot="14850000">
            <a:off x="2515447" y="4506360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72717" y="4815434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Human review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a person decides</a:t>
            </a:r>
          </a:p>
        </p:txBody>
      </p:sp>
      <p:sp>
        <p:nvSpPr>
          <p:cNvPr id="70" name="Oval 69"/>
          <p:cNvSpPr/>
          <p:nvPr/>
        </p:nvSpPr>
        <p:spPr>
          <a:xfrm>
            <a:off x="2212848" y="3721608"/>
            <a:ext cx="566928" cy="56692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1" name="Picture 70" descr="LuChartColumn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8910" y="3857670"/>
            <a:ext cx="294802" cy="294802"/>
          </a:xfrm>
          <a:prstGeom prst="rect">
            <a:avLst/>
          </a:prstGeom>
        </p:spPr>
      </p:pic>
      <p:sp>
        <p:nvSpPr>
          <p:cNvPr id="72" name="Chevron 71"/>
          <p:cNvSpPr/>
          <p:nvPr/>
        </p:nvSpPr>
        <p:spPr>
          <a:xfrm rot="17550000">
            <a:off x="2515447" y="3302615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12064" y="3703320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2F2B6E"/>
                </a:solidFill>
                <a:latin typeface="Inter"/>
              </a:rPr>
              <a:t>Train &amp; measure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frozen test set</a:t>
            </a:r>
          </a:p>
        </p:txBody>
      </p:sp>
      <p:sp>
        <p:nvSpPr>
          <p:cNvPr id="74" name="Oval 73"/>
          <p:cNvSpPr/>
          <p:nvPr/>
        </p:nvSpPr>
        <p:spPr>
          <a:xfrm>
            <a:off x="2673501" y="2609493"/>
            <a:ext cx="566928" cy="56692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5" name="Picture 74" descr="LuTarget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09563" y="2745555"/>
            <a:ext cx="294802" cy="294802"/>
          </a:xfrm>
          <a:prstGeom prst="rect">
            <a:avLst/>
          </a:prstGeom>
        </p:spPr>
      </p:pic>
      <p:sp>
        <p:nvSpPr>
          <p:cNvPr id="76" name="Chevron 75"/>
          <p:cNvSpPr/>
          <p:nvPr/>
        </p:nvSpPr>
        <p:spPr>
          <a:xfrm rot="20250000">
            <a:off x="3366623" y="2451439"/>
            <a:ext cx="201168" cy="201168"/>
          </a:xfrm>
          <a:prstGeom prst="chevron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72717" y="2591205"/>
            <a:ext cx="16002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Inter"/>
              </a:rPr>
              <a:t>Record next</a:t>
            </a:r>
          </a:p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gaps + uncertainty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1691640"/>
            <a:ext cx="3703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WHAT IT PRODUCES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18120" y="2057400"/>
            <a:ext cx="3703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7955279" y="2313432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" name="Picture 80" descr="LuFileJson_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6953" y="2445105"/>
            <a:ext cx="285292" cy="28529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95360" y="2121408"/>
            <a:ext cx="2880360" cy="9692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A model-ready corpus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Landmarks + manifest, with consent, licence and review status per clip.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18120" y="3264408"/>
            <a:ext cx="3703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7955279" y="3520440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LuGauge_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6953" y="3652113"/>
            <a:ext cx="285292" cy="28529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595360" y="3328416"/>
            <a:ext cx="2880360" cy="9692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Models you can trust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Frozen test set, macro-F1 and calibration; 'not sure' when unsure.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818120" y="4471416"/>
            <a:ext cx="3703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955279" y="4727448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9" name="Picture 88" descr="LuListOrdered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6953" y="4859121"/>
            <a:ext cx="285292" cy="28529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595360" y="4535424"/>
            <a:ext cx="2880360" cy="9692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A plan for what to record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Signs ranked by coverage, signer and model gaps, each with a reason.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8120" y="5715000"/>
            <a:ext cx="3703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F2B6E"/>
                </a:solidFill>
                <a:latin typeface="Inter"/>
              </a:rPr>
              <a:t>8 working pages: </a:t>
            </a:r>
            <a:r>
              <a:rPr sz="1100" b="0" i="0">
                <a:solidFill>
                  <a:srgbClr val="555275"/>
                </a:solidFill>
                <a:latin typeface="Inter"/>
              </a:rPr>
              <a:t>Capture · Corpus · Queue · Models · Interpret · Learn · Export ·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 Stack + Workflow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TextBox 5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03  ·  HOW IT WORKS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SiNextdotjs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1737360"/>
            <a:ext cx="365760" cy="3657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5800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Next.js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73352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SiReact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1737360"/>
            <a:ext cx="365760" cy="3657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73352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React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60904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0" name="Picture 59" descr="SiTypescript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1737360"/>
            <a:ext cx="365760" cy="3657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660904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TypeScript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48456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SiTailwindcss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632" y="1737360"/>
            <a:ext cx="365760" cy="3657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648456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Tailwind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636008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6" name="Picture 65" descr="SiMediapipe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1184" y="1737360"/>
            <a:ext cx="365760" cy="3657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636008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MediaPipe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23560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SiPython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8736" y="1737360"/>
            <a:ext cx="365760" cy="3657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623560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Python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11112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SiFastapi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6288" y="1737360"/>
            <a:ext cx="365760" cy="3657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611112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FastAPI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98664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5" name="Picture 74" descr="SiPytorch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0" y="1737360"/>
            <a:ext cx="365760" cy="36576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598664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PyTorch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86216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SiNumpy_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1392" y="1737360"/>
            <a:ext cx="365760" cy="3657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586216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NumPy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73768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" name="Picture 80" descr="SiSqlite_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38944" y="1737360"/>
            <a:ext cx="365760" cy="3657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573768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SQLite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61320" y="1645920"/>
            <a:ext cx="89611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SiGithubaction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26496" y="1737360"/>
            <a:ext cx="365760" cy="3657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561320" y="2157984"/>
            <a:ext cx="896112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F2B6E"/>
                </a:solidFill>
                <a:latin typeface="Inter"/>
              </a:rPr>
              <a:t>GH Actions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2743200"/>
            <a:ext cx="4572000" cy="18288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822960" y="2807208"/>
            <a:ext cx="42976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IN THE BROWSER  ·  VIDEO STAYS ON DEVICE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40680" y="2743200"/>
            <a:ext cx="6062472" cy="18288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577840" y="2807208"/>
            <a:ext cx="578815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BACKEND  ·  FASTAPI + PYTORCH</a:t>
            </a:r>
          </a:p>
        </p:txBody>
      </p:sp>
      <p:sp>
        <p:nvSpPr>
          <p:cNvPr id="90" name="Oval 89"/>
          <p:cNvSpPr/>
          <p:nvPr/>
        </p:nvSpPr>
        <p:spPr>
          <a:xfrm>
            <a:off x="123444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LuCamera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3670" y="3349630"/>
            <a:ext cx="323331" cy="32333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22959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Camera / video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1929384" y="3410712"/>
            <a:ext cx="740664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274320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SiMediapipe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92430" y="3349630"/>
            <a:ext cx="323331" cy="323331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331720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MediaPipe Holistic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3438144" y="3410712"/>
            <a:ext cx="740664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425196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9" name="Picture 98" descr="LuScanLine_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01190" y="3349630"/>
            <a:ext cx="323331" cy="323331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840480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75 landmarks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4946904" y="3410712"/>
            <a:ext cx="969264" cy="201168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598932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3" name="Picture 102" descr="LuCircleCheck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38550" y="3349630"/>
            <a:ext cx="323331" cy="323331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5577840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QC + duplicates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6684264" y="3410712"/>
            <a:ext cx="740663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7498079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7" name="Picture 106" descr="LuDatabase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47310" y="3349630"/>
            <a:ext cx="323331" cy="323331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086600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SQLite + .npz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8193023" y="3410712"/>
            <a:ext cx="740664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900684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1" name="Picture 110" descr="SiPytorch_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56070" y="3349630"/>
            <a:ext cx="323331" cy="323331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595359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GRU train / eval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9701784" y="3410712"/>
            <a:ext cx="740664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10515600" y="3200400"/>
            <a:ext cx="621792" cy="621792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5" name="Picture 114" descr="LuListOrdered_w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4830" y="3349630"/>
            <a:ext cx="323331" cy="323331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104119" y="3886200"/>
            <a:ext cx="1417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Queue + review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4773168"/>
            <a:ext cx="107899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MODEL PIPELINE  ·  IDENTICAL FOR TRAINING, LIVE CAMERA AND THE IN-BROWSER PORT</a:t>
            </a:r>
          </a:p>
        </p:txBody>
      </p:sp>
      <p:sp>
        <p:nvSpPr>
          <p:cNvPr id="118" name="Pentagon 117"/>
          <p:cNvSpPr/>
          <p:nvPr/>
        </p:nvSpPr>
        <p:spPr>
          <a:xfrm>
            <a:off x="685800" y="5120640"/>
            <a:ext cx="1627632" cy="685800"/>
          </a:xfrm>
          <a:prstGeom prst="homePlate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Frames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camera</a:t>
            </a:r>
          </a:p>
        </p:txBody>
      </p:sp>
      <p:sp>
        <p:nvSpPr>
          <p:cNvPr id="119" name="Chevron 118"/>
          <p:cNvSpPr/>
          <p:nvPr/>
        </p:nvSpPr>
        <p:spPr>
          <a:xfrm>
            <a:off x="2231136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Landmarks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33 + 2×21</a:t>
            </a:r>
          </a:p>
        </p:txBody>
      </p:sp>
      <p:sp>
        <p:nvSpPr>
          <p:cNvPr id="120" name="Chevron 119"/>
          <p:cNvSpPr/>
          <p:nvPr/>
        </p:nvSpPr>
        <p:spPr>
          <a:xfrm>
            <a:off x="3776472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27 points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x, y</a:t>
            </a:r>
          </a:p>
        </p:txBody>
      </p:sp>
      <p:sp>
        <p:nvSpPr>
          <p:cNvPr id="121" name="Chevron 120"/>
          <p:cNvSpPr/>
          <p:nvPr/>
        </p:nvSpPr>
        <p:spPr>
          <a:xfrm>
            <a:off x="5321808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30 frames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10 fps</a:t>
            </a:r>
          </a:p>
        </p:txBody>
      </p:sp>
      <p:sp>
        <p:nvSpPr>
          <p:cNvPr id="122" name="Chevron 121"/>
          <p:cNvSpPr/>
          <p:nvPr/>
        </p:nvSpPr>
        <p:spPr>
          <a:xfrm>
            <a:off x="6867144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Normalise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shoulders</a:t>
            </a:r>
          </a:p>
        </p:txBody>
      </p:sp>
      <p:sp>
        <p:nvSpPr>
          <p:cNvPr id="123" name="Chevron 122"/>
          <p:cNvSpPr/>
          <p:nvPr/>
        </p:nvSpPr>
        <p:spPr>
          <a:xfrm>
            <a:off x="8412480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GRU 128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dropout 0.3</a:t>
            </a:r>
          </a:p>
        </p:txBody>
      </p:sp>
      <p:sp>
        <p:nvSpPr>
          <p:cNvPr id="124" name="Chevron 123"/>
          <p:cNvSpPr/>
          <p:nvPr/>
        </p:nvSpPr>
        <p:spPr>
          <a:xfrm>
            <a:off x="9957816" y="5120640"/>
            <a:ext cx="1627632" cy="685800"/>
          </a:xfrm>
          <a:prstGeom prst="chevron">
            <a:avLst>
              <a:gd name="adj" fmla="val 2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Calibrate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275"/>
                </a:solidFill>
                <a:latin typeface="Inter"/>
              </a:rPr>
              <a:t>temperature</a:t>
            </a:r>
          </a:p>
        </p:txBody>
      </p:sp>
      <p:pic>
        <p:nvPicPr>
          <p:cNvPr id="125" name="Picture 124" descr="LuLock_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3232" y="5943600"/>
            <a:ext cx="256032" cy="256032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005840" y="5897880"/>
            <a:ext cx="104241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Privacy by pose: only landmarks leave the browser. The hosted demo runs the same model and QC in TypeScript, checked against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Innovation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04  ·  WHAT IS NEW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645920"/>
            <a:ext cx="5257800" cy="4572000"/>
          </a:xfrm>
          <a:prstGeom prst="roundRect">
            <a:avLst>
              <a:gd name="adj" fmla="val 8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914400" y="1874519"/>
            <a:ext cx="685800" cy="68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5" name="Picture 64" descr="LuTarg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2039112"/>
            <a:ext cx="356616" cy="35661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37360" y="1828800"/>
            <a:ext cx="411480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Playfair Display"/>
              </a:rPr>
              <a:t>Model-guided collection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1">
                <a:solidFill>
                  <a:srgbClr val="DDDBF5"/>
                </a:solidFill>
                <a:latin typeface="Inter"/>
              </a:rPr>
              <a:t>our core innovation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743200"/>
            <a:ext cx="48463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DDDBF5"/>
                </a:solidFill>
                <a:latin typeface="Inter"/>
              </a:rPr>
              <a:t>Instead of recording more of everything, SIGNFORGE ranks every sign by how much a new clip would help, and says why.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3703320"/>
            <a:ext cx="173736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Inter"/>
              </a:rPr>
              <a:t>Model uncertainty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97480" y="3776472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454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2697480" y="3776472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697480" y="3758183"/>
            <a:ext cx="292608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F2B6E"/>
                </a:solidFill>
                <a:latin typeface="Inter"/>
              </a:rPr>
              <a:t>40%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4270248"/>
            <a:ext cx="173736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Inter"/>
              </a:rPr>
              <a:t>Coverage gap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697480" y="434340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454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2697480" y="4343400"/>
            <a:ext cx="2560319" cy="274320"/>
          </a:xfrm>
          <a:prstGeom prst="roundRect">
            <a:avLst>
              <a:gd name="adj" fmla="val 50000"/>
            </a:avLst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697480" y="4325112"/>
            <a:ext cx="2560319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F2B6E"/>
                </a:solidFill>
                <a:latin typeface="Inter"/>
              </a:rPr>
              <a:t>35%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4837176"/>
            <a:ext cx="173736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Inter"/>
              </a:rPr>
              <a:t>Signer gap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697480" y="491032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454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2697480" y="491032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7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697480" y="4892040"/>
            <a:ext cx="182880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F2B6E"/>
                </a:solidFill>
                <a:latin typeface="Inter"/>
              </a:rPr>
              <a:t>25%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5440680"/>
            <a:ext cx="48463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Output: </a:t>
            </a:r>
            <a:r>
              <a:rPr sz="1250" b="0" i="0">
                <a:solidFill>
                  <a:srgbClr val="DDDBF5"/>
                </a:solidFill>
                <a:latin typeface="Inter"/>
              </a:rPr>
              <a:t>“Record ‹sign› from a new signer: only 1 signer represented, model unsure.” One click opens Capture.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645920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09360" y="1792224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3" name="Picture 82" descr="LuScal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033" y="1923897"/>
            <a:ext cx="285292" cy="28529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949440" y="1664208"/>
            <a:ext cx="4526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A model check that admits doubt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Same-language model, calibrated scores, 'not sure' below 55%, no auto-accept until reliable.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72200" y="2578608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6309360" y="2724912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7" name="Picture 86" descr="LuFingerprint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033" y="2856585"/>
            <a:ext cx="285292" cy="28529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949440" y="2596896"/>
            <a:ext cx="4526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Privacy by pose, real consent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Landmarks only; withdrawing consent deletes clips and models trained on them.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72200" y="3511296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6309360" y="3657600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LuServerOff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033" y="3789273"/>
            <a:ext cx="285292" cy="28529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949440" y="3529584"/>
            <a:ext cx="4526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Runs without a server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Model, quality check and retraining run in the browser, verified clip for clip.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72200" y="4443984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6309360" y="4590288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LuSparkles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033" y="4721961"/>
            <a:ext cx="285292" cy="28529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949440" y="4462272"/>
            <a:ext cx="4526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Teach it new signs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Add a sign, record 3+ approved clips, retrain in seconds; Interpret knows it.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72200" y="5376672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6309360" y="5522976"/>
            <a:ext cx="548640" cy="548640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9" name="Picture 98" descr="LuGraduationCap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033" y="5654649"/>
            <a:ext cx="285292" cy="285292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949440" y="5394959"/>
            <a:ext cx="452628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Learners grow the corpus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Practise against real dataset clips; opted-in attempts go to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TextBox 7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05  ·  WHAT IT CHANGES</a:t>
            </a:r>
          </a:p>
        </p:txBody>
      </p:sp>
      <p:sp>
        <p:nvSpPr>
          <p:cNvPr id="73" name="Oval 72"/>
          <p:cNvSpPr/>
          <p:nvPr/>
        </p:nvSpPr>
        <p:spPr>
          <a:xfrm>
            <a:off x="777240" y="1691640"/>
            <a:ext cx="603504" cy="603504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4" name="Picture 73" descr="Lu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0" y="1836480"/>
            <a:ext cx="313822" cy="31382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490472" y="1664208"/>
            <a:ext cx="237744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2F2B6E"/>
                </a:solidFill>
                <a:latin typeface="Inter"/>
              </a:rPr>
              <a:t>Better data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consented, checked, reviewed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3840480" y="1901952"/>
            <a:ext cx="457200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4434840" y="1691640"/>
            <a:ext cx="603504" cy="603504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LuGaug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9680" y="1836480"/>
            <a:ext cx="313822" cy="31382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148072" y="1664208"/>
            <a:ext cx="237744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2F2B6E"/>
                </a:solidFill>
                <a:latin typeface="Inter"/>
              </a:rPr>
              <a:t>Better models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measured on frozen test sets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498079" y="1901952"/>
            <a:ext cx="457200" cy="201168"/>
          </a:xfrm>
          <a:prstGeom prst="rightArrow">
            <a:avLst/>
          </a:prstGeom>
          <a:solidFill>
            <a:srgbClr val="7F7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8092440" y="1691640"/>
            <a:ext cx="603504" cy="603504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LuHeartHandshake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7280" y="1836480"/>
            <a:ext cx="313822" cy="31382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805672" y="1664208"/>
            <a:ext cx="237744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2F2B6E"/>
                </a:solidFill>
                <a:latin typeface="Inter"/>
              </a:rPr>
              <a:t>Accessible apps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built on documented corpora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640080" y="2606040"/>
          <a:ext cx="5943600" cy="352044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5" name="Rounded Rectangle 84"/>
          <p:cNvSpPr/>
          <p:nvPr/>
        </p:nvSpPr>
        <p:spPr>
          <a:xfrm>
            <a:off x="6858000" y="2606040"/>
            <a:ext cx="4663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6995160" y="2743200"/>
            <a:ext cx="530352" cy="530352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7" name="Picture 86" descr="LuTrendingUp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444" y="2870484"/>
            <a:ext cx="275783" cy="275783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635240" y="2606040"/>
            <a:ext cx="3840480" cy="8046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F2B6E"/>
                </a:solidFill>
                <a:latin typeface="Inter"/>
              </a:rPr>
              <a:t>56%</a:t>
            </a:r>
            <a:r>
              <a:rPr sz="1700" b="1" i="0">
                <a:solidFill>
                  <a:srgbClr val="2F2B6E"/>
                </a:solidFill>
                <a:latin typeface="Inter"/>
              </a:rPr>
              <a:t>  →  </a:t>
            </a:r>
            <a:r>
              <a:rPr sz="2000" b="1" i="0">
                <a:solidFill>
                  <a:srgbClr val="2F2B6E"/>
                </a:solidFill>
                <a:latin typeface="Inter"/>
              </a:rPr>
              <a:t>78%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ISL accuracy on the same 59 held-out clips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58000" y="3502152"/>
            <a:ext cx="4663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6995160" y="3639312"/>
            <a:ext cx="530352" cy="530352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LuBadgeCheck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2444" y="3766596"/>
            <a:ext cx="275783" cy="275783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635240" y="3502152"/>
            <a:ext cx="3840480" cy="8046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F2B6E"/>
                </a:solidFill>
                <a:latin typeface="Inter"/>
              </a:rPr>
              <a:t>0.11</a:t>
            </a:r>
            <a:r>
              <a:rPr sz="1700" b="1" i="0">
                <a:solidFill>
                  <a:srgbClr val="2F2B6E"/>
                </a:solidFill>
                <a:latin typeface="Inter"/>
              </a:rPr>
              <a:t>  →  </a:t>
            </a:r>
            <a:r>
              <a:rPr sz="2000" b="1" i="0">
                <a:solidFill>
                  <a:srgbClr val="2F2B6E"/>
                </a:solidFill>
                <a:latin typeface="Inter"/>
              </a:rPr>
              <a:t>0.07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calibration error, now passes the 0.10 check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58000" y="4398264"/>
            <a:ext cx="4663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6995160" y="4535424"/>
            <a:ext cx="530352" cy="530352"/>
          </a:xfrm>
          <a:prstGeom prst="ellipse">
            <a:avLst/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LuUser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2444" y="4662708"/>
            <a:ext cx="275783" cy="275783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635240" y="4398264"/>
            <a:ext cx="3840480" cy="8046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2F2B6E"/>
                </a:solidFill>
                <a:latin typeface="Inter"/>
              </a:rPr>
              <a:t>22 clips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55275"/>
                </a:solidFill>
                <a:latin typeface="Inter"/>
              </a:rPr>
              <a:t>from 8 consenting team signers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0" y="5349240"/>
            <a:ext cx="466344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2F2B6E"/>
                </a:solidFill>
                <a:latin typeface="Inter"/>
              </a:rPr>
              <a:t>Who benefits: </a:t>
            </a:r>
            <a:r>
              <a:rPr sz="1200" b="0" i="0">
                <a:solidFill>
                  <a:srgbClr val="26243F"/>
                </a:solidFill>
                <a:latin typeface="Inter"/>
              </a:rPr>
              <a:t>Deaf communities steer what is collected; researchers get reusable data; learners practise free. Downstream impact is not yet 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 Audience / Market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TextBox 8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06  ·  WHO IT IS FOR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664208"/>
            <a:ext cx="2514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WHO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0" y="1664208"/>
            <a:ext cx="27889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THEIR PROBLEM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1664208"/>
            <a:ext cx="32461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WHAT SIGNFORGE GIVES THEM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1664208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 spc="160">
                <a:solidFill>
                  <a:srgbClr val="7F79B6"/>
                </a:solidFill>
                <a:latin typeface="Inter"/>
              </a:rPr>
              <a:t>PAGES THEY USE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5800" y="20116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77240" y="2093976"/>
            <a:ext cx="475488" cy="47548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9" name="Picture 88" descr="LuMicroscop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2208093"/>
            <a:ext cx="247253" cy="247253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325880" y="2011680"/>
            <a:ext cx="19659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2F2B6E"/>
                </a:solidFill>
                <a:latin typeface="Inter"/>
              </a:rPr>
              <a:t>Research labs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91840" y="2011680"/>
            <a:ext cx="27889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Small, inconsistent datasets; results can't be compared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2200" y="2011680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A documented corpus and a frozen-split benchmark, exportable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555480" y="219456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Models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515600" y="219456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Export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85800" y="2724912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777240" y="2807208"/>
            <a:ext cx="475488" cy="47548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7" name="Picture 96" descr="Lu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57" y="2921325"/>
            <a:ext cx="247253" cy="247253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325880" y="2724912"/>
            <a:ext cx="19659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2F2B6E"/>
                </a:solidFill>
                <a:latin typeface="Inter"/>
              </a:rPr>
              <a:t>Accessibility startups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91840" y="2724912"/>
            <a:ext cx="27889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Need the exact signs their product uses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72200" y="2724912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A ranked collection queue, with consent tracked per clip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555480" y="290779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Capture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515600" y="290779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Queue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5800" y="3438144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777240" y="3520440"/>
            <a:ext cx="475488" cy="47548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5" name="Picture 104" descr="LuHeartHandshak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357" y="3634557"/>
            <a:ext cx="247253" cy="247253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325880" y="3438144"/>
            <a:ext cx="19659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2F2B6E"/>
                </a:solidFill>
                <a:latin typeface="Inter"/>
              </a:rPr>
              <a:t>Deaf organisations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91840" y="3438144"/>
            <a:ext cx="27889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Data taken from the community without a say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3438144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Run collection and review; consent and withdrawal built in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555480" y="3621024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Review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515600" y="3621024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Consent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85800" y="4151376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777240" y="4233672"/>
            <a:ext cx="475488" cy="47548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LuLandmar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357" y="4347789"/>
            <a:ext cx="247253" cy="247253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325880" y="4151376"/>
            <a:ext cx="19659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2F2B6E"/>
                </a:solidFill>
                <a:latin typeface="Inter"/>
              </a:rPr>
              <a:t>Public institutions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91840" y="4151376"/>
            <a:ext cx="27889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ISL access in hospitals, transport, offices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0" y="4151376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Domain vocabularies built and validated with signers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555480" y="433425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Capture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515600" y="433425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Corpus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85800" y="4864608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777240" y="4946904"/>
            <a:ext cx="475488" cy="475488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1" name="Picture 120" descr="LuCpu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357" y="5061021"/>
            <a:ext cx="247253" cy="247253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325880" y="4864608"/>
            <a:ext cx="196596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2F2B6E"/>
                </a:solidFill>
                <a:latin typeface="Inter"/>
              </a:rPr>
              <a:t>AI companies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91840" y="4864608"/>
            <a:ext cx="27889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Need licensable, provenance-clean 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2200" y="4864608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26243F"/>
                </a:solidFill>
                <a:latin typeface="Inter"/>
              </a:rPr>
              <a:t>Licence and provenance per clip; landmarks, not raw video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555480" y="5047488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2F2B6E"/>
                </a:solidFill>
                <a:latin typeface="Inter"/>
              </a:rPr>
              <a:t>Export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5800" y="5669280"/>
            <a:ext cx="10817352" cy="54864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7" name="Picture 126" descr="LuGlobe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5788152"/>
            <a:ext cx="310896" cy="31089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280160" y="5669280"/>
            <a:ext cx="101498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F2B6E"/>
                </a:solidFill>
                <a:latin typeface="Inter"/>
              </a:rPr>
              <a:t>Beachhead: </a:t>
            </a:r>
            <a:r>
              <a:rPr sz="1250" b="0" i="0">
                <a:solidFill>
                  <a:srgbClr val="26243F"/>
                </a:solidFill>
                <a:latin typeface="Inter"/>
              </a:rPr>
              <a:t>Indian Sign Language with INCLUDE as the open benchmark. ASL already runs, so any under-resourced sign language can be added as a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Revenue Model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0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TextBox 9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07  ·  HOW IT SUSTAINS ITSELF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5800" y="3200400"/>
            <a:ext cx="2057400" cy="1874519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1435607" y="2926080"/>
            <a:ext cx="548640" cy="54864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LuGraduationCa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1" y="3057753"/>
            <a:ext cx="285292" cy="28529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58952" y="3547872"/>
            <a:ext cx="1911095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Community &amp; academic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51560" y="41148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Free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8952" y="4526280"/>
            <a:ext cx="1911095" cy="5029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26243F"/>
                </a:solidFill>
                <a:latin typeface="Inter"/>
              </a:rPr>
              <a:t>Open-source, self-hosted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80360" y="288036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3630168" y="2606040"/>
            <a:ext cx="548640" cy="54864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1" name="Picture 100" descr="LuMicroscop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841" y="2737713"/>
            <a:ext cx="285292" cy="285292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953512" y="3227832"/>
            <a:ext cx="1911095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Research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246120" y="37947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Support plan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53512" y="4206240"/>
            <a:ext cx="1911095" cy="82295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26243F"/>
                </a:solidFill>
                <a:latin typeface="Inter"/>
              </a:rPr>
              <a:t>Setup, data audits, benchmarks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074920" y="2560320"/>
            <a:ext cx="2057400" cy="25146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5824728" y="2286000"/>
            <a:ext cx="548640" cy="54864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7" name="Picture 106" descr="LuClou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401" y="2417673"/>
            <a:ext cx="285292" cy="285292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148072" y="2907791"/>
            <a:ext cx="1911095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Pro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440680" y="34747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Subscription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48072" y="3886200"/>
            <a:ext cx="1911095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26243F"/>
                </a:solidFill>
                <a:latin typeface="Inter"/>
              </a:rPr>
              <a:t>Hosted collection, review, model runs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269479" y="2240280"/>
            <a:ext cx="2057400" cy="2834639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8019288" y="1965960"/>
            <a:ext cx="548640" cy="54864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LuBuilding2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0961" y="2097633"/>
            <a:ext cx="285292" cy="28529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7342631" y="2587752"/>
            <a:ext cx="1911095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Enterprise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635240" y="31546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Licence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42631" y="3566160"/>
            <a:ext cx="1911095" cy="146303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26243F"/>
                </a:solidFill>
                <a:latin typeface="Inter"/>
              </a:rPr>
              <a:t>Private deployment, governance, SSO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464040" y="1920240"/>
            <a:ext cx="2057400" cy="3154679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10213848" y="1645920"/>
            <a:ext cx="548640" cy="548640"/>
          </a:xfrm>
          <a:prstGeom prst="ellipse">
            <a:avLst/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9" name="Picture 118" descr="LuHandshak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5521" y="1777593"/>
            <a:ext cx="285292" cy="285292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9537192" y="2267712"/>
            <a:ext cx="1911095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F2B6E"/>
                </a:solidFill>
                <a:latin typeface="Inter"/>
              </a:rPr>
              <a:t>Data services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829800" y="283464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Per project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37192" y="3246120"/>
            <a:ext cx="1911095" cy="178307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26243F"/>
                </a:solidFill>
                <a:latin typeface="Inter"/>
              </a:rPr>
              <a:t>Consented corpus building; contributors paid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685800" y="5184648"/>
            <a:ext cx="10817352" cy="201168"/>
          </a:xfrm>
          <a:prstGeom prst="rightArrow">
            <a:avLst/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685800" y="5394959"/>
            <a:ext cx="108173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55275"/>
                </a:solidFill>
                <a:latin typeface="Inter"/>
              </a:rPr>
              <a:t>more hosting, support and services  →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85800" y="5715000"/>
            <a:ext cx="10817352" cy="5029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7F7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F2B6E"/>
                </a:solidFill>
                <a:latin typeface="Inter"/>
              </a:rPr>
              <a:t>Open core, paid hosting and services. </a:t>
            </a:r>
            <a:r>
              <a:rPr sz="1250" b="0" i="0">
                <a:solidFill>
                  <a:srgbClr val="26243F"/>
                </a:solidFill>
                <a:latin typeface="Inter"/>
              </a:rPr>
              <a:t>Contributors are credited and paid; their data is never free labour. Billing is not part of the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548640" y="100584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3200"/>
              <a:buFont typeface="Arial"/>
              <a:buNone/>
            </a:pPr>
            <a:r>
              <a:rPr lang="en-US" sz="3400" b="0">
                <a:solidFill>
                  <a:srgbClr val="2F2B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Improvements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TextBox 101"/>
          <p:cNvSpPr txBox="1"/>
          <p:nvPr/>
        </p:nvSpPr>
        <p:spPr>
          <a:xfrm>
            <a:off x="548640" y="768096"/>
            <a:ext cx="1109167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 spc="300">
                <a:solidFill>
                  <a:srgbClr val="0E7C7B"/>
                </a:solidFill>
                <a:latin typeface="Inter"/>
              </a:rPr>
              <a:t>08  ·  WHAT COMES NEXT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46120" y="1847088"/>
            <a:ext cx="8229600" cy="54864"/>
          </a:xfrm>
          <a:prstGeom prst="rect">
            <a:avLst/>
          </a:prstGeom>
          <a:solidFill>
            <a:srgbClr val="DD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3566160" y="166420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Now (built)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166420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Next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235440" y="166420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8A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Later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85800" y="233172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822960" y="2633472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9" name="Picture 108" descr="Lu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3" y="2765145"/>
            <a:ext cx="285292" cy="28529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417320" y="2331720"/>
            <a:ext cx="155448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More data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10896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3218688" y="2331720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✓  </a:t>
            </a:r>
            <a:r>
              <a:rPr sz="1250" b="0" i="0">
                <a:solidFill>
                  <a:srgbClr val="26243F"/>
                </a:solidFill>
                <a:latin typeface="Inter"/>
              </a:rPr>
              <a:t>835 clips: 17 ISL + 16 ASL signs, 22 team clips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94360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6053328" y="2331720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Import INCLUDE People: 10 signs, archives checksummed; more signers per sign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77824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887967" y="2331720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Community collection at scale; regional variants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85800" y="3593591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822960" y="3895344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9" name="Picture 118" descr="LuGaug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4027017"/>
            <a:ext cx="285292" cy="285292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417320" y="3593591"/>
            <a:ext cx="155448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Better accuracy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108960" y="3593591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3218688" y="3593591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✓  </a:t>
            </a:r>
            <a:r>
              <a:rPr sz="1250" b="0" i="0">
                <a:solidFill>
                  <a:srgbClr val="26243F"/>
                </a:solidFill>
                <a:latin typeface="Inter"/>
              </a:rPr>
              <a:t>ISL 78% on held-out clips, calibrated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43600" y="3593591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6053328" y="3593591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Verify a pretrained checkpoint for real transfer; target weak signs (ALRIGHT 0/4)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778240" y="3593591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8887967" y="3593591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Signer-independent and continuous-signing evaluation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85800" y="4855464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2F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822960" y="5157216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9" name="Picture 128" descr="LuGlob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" y="5288889"/>
            <a:ext cx="285292" cy="28529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417320" y="4855464"/>
            <a:ext cx="155448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Platform &amp; community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108960" y="4855464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F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218688" y="4855464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>✓  </a:t>
            </a:r>
            <a:r>
              <a:rPr sz="1250" b="0" i="0">
                <a:solidFill>
                  <a:srgbClr val="26243F"/>
                </a:solidFill>
                <a:latin typeface="Inter"/>
              </a:rPr>
              <a:t>Full loop, browser demo, new signs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943600" y="4855464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6053328" y="4855464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Shared hosted backend; Deaf and native reviewer onboarding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778240" y="4855464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887967" y="4855464"/>
            <a:ext cx="256032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E7C7B"/>
                </a:solidFill>
                <a:latin typeface="Inter"/>
              </a:rPr>
              <a:t/>
            </a:r>
            <a:r>
              <a:rPr sz="1250" b="0" i="0">
                <a:solidFill>
                  <a:srgbClr val="26243F"/>
                </a:solidFill>
                <a:latin typeface="Inter"/>
              </a:rPr>
              <a:t>Mobile capture, ELAN export, more sign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/>
          <p:nvPr/>
        </p:nvSpPr>
        <p:spPr>
          <a:xfrm>
            <a:off x="182880" y="182880"/>
            <a:ext cx="11826240" cy="6492240"/>
          </a:xfrm>
          <a:prstGeom prst="roundRect">
            <a:avLst>
              <a:gd name="adj" fmla="val 3000"/>
            </a:avLst>
          </a:prstGeom>
          <a:noFill/>
          <a:ln w="28575" cap="flat" cmpd="sng">
            <a:solidFill>
              <a:srgbClr val="7F7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4000"/>
              <a:buFont typeface="Arial"/>
              <a:buNone/>
            </a:pPr>
            <a:r>
              <a:rPr lang="en-US" sz="4400">
                <a:solidFill>
                  <a:srgbClr val="2F2B6E"/>
                </a:solidFill>
                <a:latin typeface="Playfair Display"/>
                <a:ea typeface="Spectral Medium"/>
                <a:cs typeface="Spectral Medium"/>
                <a:sym typeface="Spectral Medium"/>
              </a:rPr>
              <a:t>Thank You</a:t>
            </a:r>
            <a:endParaRPr sz="4400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2B6E"/>
              </a:buClr>
              <a:buSzPts val="1800"/>
              <a:buFont typeface="Arial"/>
              <a:buNone/>
            </a:pPr>
            <a:r>
              <a:rPr lang="en-US" sz="2200">
                <a:solidFill>
                  <a:srgbClr val="2F2B6E"/>
                </a:solidFill>
                <a:latin typeface="Playfair Display"/>
                <a:ea typeface="Spectral Medium"/>
                <a:cs typeface="Spectral Medium"/>
                <a:sym typeface="Spectral Medium"/>
              </a:rPr>
              <a:t>Questions?</a:t>
            </a:r>
            <a:endParaRPr sz="2200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t="29450" b="24230"/>
          <a:stretch/>
        </p:blipFill>
        <p:spPr>
          <a:xfrm>
            <a:off x="248600" y="182875"/>
            <a:ext cx="1697300" cy="7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50" y="182874"/>
            <a:ext cx="1697299" cy="5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2921" y="182872"/>
            <a:ext cx="1264551" cy="7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TextBox 112"/>
          <p:cNvSpPr txBox="1"/>
          <p:nvPr/>
        </p:nvSpPr>
        <p:spPr>
          <a:xfrm>
            <a:off x="640080" y="4434840"/>
            <a:ext cx="10908792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F2B6E"/>
                </a:solidFill>
                <a:latin typeface="Inter"/>
              </a:rPr>
              <a:t>Model uncertainty  →  next sample  →  better data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2F2B6E"/>
                </a:solidFill>
                <a:latin typeface="Inter"/>
              </a:rPr>
              <a:t>Try it  </a:t>
            </a:r>
            <a:r>
              <a:rPr sz="1500" b="0" i="0">
                <a:solidFill>
                  <a:srgbClr val="0E7C7B"/>
                </a:solidFill>
                <a:latin typeface="Inter"/>
              </a:rPr>
              <a:t>bhaveshlakhmani25-ui.github.io/signforge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555275"/>
                </a:solidFill>
                <a:latin typeface="Inter"/>
              </a:rPr>
              <a:t>Team Claude's Clan  ·  Tashvi Adhlakha · Bhavesh Lakhmani · Reuben Raju · Aakarshi Dwivedi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Spectral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Arnab Mazumder</cp:lastModifiedBy>
  <cp:revision>1</cp:revision>
  <dcterms:created xsi:type="dcterms:W3CDTF">2026-08-03T16:38:33Z</dcterms:created>
  <dcterms:modified xsi:type="dcterms:W3CDTF">2026-08-04T15:12:02Z</dcterms:modified>
</cp:coreProperties>
</file>